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6775" y="742660"/>
            <a:ext cx="6435725" cy="592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700" spc="-35">
                <a:latin typeface="Arial MT"/>
                <a:cs typeface="Arial MT"/>
              </a:rPr>
              <a:t>Xiao</a:t>
            </a:r>
            <a:r>
              <a:rPr dirty="0" sz="700" spc="-20">
                <a:latin typeface="Arial MT"/>
                <a:cs typeface="Arial MT"/>
              </a:rPr>
              <a:t> et</a:t>
            </a:r>
            <a:r>
              <a:rPr dirty="0" sz="700" spc="-15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al.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700">
              <a:latin typeface="Arial MT"/>
              <a:cs typeface="Arial MT"/>
            </a:endParaRPr>
          </a:p>
          <a:p>
            <a:pPr marL="15875" marR="5080" indent="-3810">
              <a:lnSpc>
                <a:spcPct val="101499"/>
              </a:lnSpc>
            </a:pPr>
            <a:r>
              <a:rPr dirty="0" sz="900" b="1">
                <a:latin typeface="Times New Roman"/>
                <a:cs typeface="Times New Roman"/>
              </a:rPr>
              <a:t>Table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1: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Multivariate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forecasting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results.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compare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extensive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competitive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models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under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different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prediction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lengths.</a:t>
            </a:r>
            <a:r>
              <a:rPr dirty="0" sz="900" spc="195" b="1">
                <a:latin typeface="Times New Roman"/>
                <a:cs typeface="Times New Roman"/>
              </a:rPr>
              <a:t> </a:t>
            </a:r>
            <a:r>
              <a:rPr dirty="0" sz="900" spc="-25" b="1">
                <a:latin typeface="Times New Roman"/>
                <a:cs typeface="Times New Roman"/>
              </a:rPr>
              <a:t>The</a:t>
            </a:r>
            <a:r>
              <a:rPr dirty="0" sz="900" b="1">
                <a:latin typeface="Times New Roman"/>
                <a:cs typeface="Times New Roman"/>
              </a:rPr>
              <a:t> look-back</a:t>
            </a:r>
            <a:r>
              <a:rPr dirty="0" sz="900" spc="8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length</a:t>
            </a:r>
            <a:r>
              <a:rPr dirty="0" sz="900" spc="75" b="1">
                <a:latin typeface="Times New Roman"/>
                <a:cs typeface="Times New Roman"/>
              </a:rPr>
              <a:t> </a:t>
            </a:r>
            <a:r>
              <a:rPr dirty="0" sz="900">
                <a:latin typeface="Segoe UI Symbol"/>
                <a:cs typeface="Segoe UI Symbol"/>
              </a:rPr>
              <a:t>𝐿</a:t>
            </a:r>
            <a:r>
              <a:rPr dirty="0" sz="900" spc="114">
                <a:latin typeface="Segoe UI Symbol"/>
                <a:cs typeface="Segoe UI Symbol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is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set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to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96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for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all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baselines.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Results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are</a:t>
            </a:r>
            <a:r>
              <a:rPr dirty="0" sz="900" spc="8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averaged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from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all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prediction</a:t>
            </a:r>
            <a:r>
              <a:rPr dirty="0" sz="900" spc="9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lengths</a:t>
            </a:r>
            <a:r>
              <a:rPr dirty="0" sz="900" spc="55" b="1">
                <a:latin typeface="Times New Roman"/>
                <a:cs typeface="Times New Roman"/>
              </a:rPr>
              <a:t> </a:t>
            </a:r>
            <a:r>
              <a:rPr dirty="0" sz="900">
                <a:latin typeface="Segoe UI Symbol"/>
                <a:cs typeface="Segoe UI Symbol"/>
              </a:rPr>
              <a:t>𝑆</a:t>
            </a:r>
            <a:r>
              <a:rPr dirty="0" sz="900" spc="215">
                <a:latin typeface="Segoe UI Symbol"/>
                <a:cs typeface="Segoe UI Symbol"/>
              </a:rPr>
              <a:t> </a:t>
            </a:r>
            <a:r>
              <a:rPr dirty="0" sz="900">
                <a:latin typeface="Georgia"/>
                <a:cs typeface="Georgia"/>
              </a:rPr>
              <a:t>=</a:t>
            </a:r>
            <a:r>
              <a:rPr dirty="0" sz="900" spc="105">
                <a:latin typeface="Georgia"/>
                <a:cs typeface="Georgia"/>
              </a:rPr>
              <a:t> </a:t>
            </a:r>
            <a:r>
              <a:rPr dirty="0" sz="900" spc="-30">
                <a:latin typeface="Ink Free"/>
                <a:cs typeface="Ink Free"/>
              </a:rPr>
              <a:t>{</a:t>
            </a:r>
            <a:r>
              <a:rPr dirty="0" sz="900" spc="-30">
                <a:latin typeface="Times New Roman"/>
                <a:cs typeface="Times New Roman"/>
              </a:rPr>
              <a:t>96</a:t>
            </a:r>
            <a:r>
              <a:rPr dirty="0" sz="900" spc="-30">
                <a:latin typeface="Segoe UI Symbol"/>
                <a:cs typeface="Segoe UI Symbol"/>
              </a:rPr>
              <a:t>,</a:t>
            </a:r>
            <a:r>
              <a:rPr dirty="0" sz="900" spc="-20">
                <a:latin typeface="Segoe UI Symbol"/>
                <a:cs typeface="Segoe UI Symbol"/>
              </a:rPr>
              <a:t> </a:t>
            </a:r>
            <a:r>
              <a:rPr dirty="0" sz="900" spc="-45">
                <a:latin typeface="Times New Roman"/>
                <a:cs typeface="Times New Roman"/>
              </a:rPr>
              <a:t>192</a:t>
            </a:r>
            <a:r>
              <a:rPr dirty="0" sz="900" spc="-45">
                <a:latin typeface="Segoe UI Symbol"/>
                <a:cs typeface="Segoe UI Symbol"/>
              </a:rPr>
              <a:t>,</a:t>
            </a:r>
            <a:r>
              <a:rPr dirty="0" sz="900" spc="-25">
                <a:latin typeface="Segoe UI Symbol"/>
                <a:cs typeface="Segoe UI Symbol"/>
              </a:rPr>
              <a:t> </a:t>
            </a:r>
            <a:r>
              <a:rPr dirty="0" sz="900" spc="-45">
                <a:latin typeface="Times New Roman"/>
                <a:cs typeface="Times New Roman"/>
              </a:rPr>
              <a:t>336</a:t>
            </a:r>
            <a:r>
              <a:rPr dirty="0" sz="900" spc="-45">
                <a:latin typeface="Segoe UI Symbol"/>
                <a:cs typeface="Segoe UI Symbol"/>
              </a:rPr>
              <a:t>,</a:t>
            </a:r>
            <a:r>
              <a:rPr dirty="0" sz="900" spc="-20">
                <a:latin typeface="Segoe UI Symbol"/>
                <a:cs typeface="Segoe UI Symbol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720</a:t>
            </a:r>
            <a:r>
              <a:rPr dirty="0" sz="900" spc="-10">
                <a:latin typeface="Ink Free"/>
                <a:cs typeface="Ink Free"/>
              </a:rPr>
              <a:t>}</a:t>
            </a:r>
            <a:r>
              <a:rPr dirty="0" sz="900" spc="-10" b="1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6920" y="1496900"/>
          <a:ext cx="6435090" cy="102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619125"/>
                <a:gridCol w="577214"/>
                <a:gridCol w="598169"/>
                <a:gridCol w="617219"/>
                <a:gridCol w="598170"/>
                <a:gridCol w="577214"/>
                <a:gridCol w="587375"/>
                <a:gridCol w="598170"/>
                <a:gridCol w="577214"/>
                <a:gridCol w="577214"/>
              </a:tblGrid>
              <a:tr h="16446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Model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35">
                          <a:latin typeface="Times New Roman"/>
                          <a:cs typeface="Times New Roman"/>
                        </a:rPr>
                        <a:t>TS-</a:t>
                      </a:r>
                      <a:r>
                        <a:rPr dirty="0" sz="750" spc="-45">
                          <a:latin typeface="Times New Roman"/>
                          <a:cs typeface="Times New Roman"/>
                        </a:rPr>
                        <a:t>RAG-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CM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35">
                          <a:latin typeface="Times New Roman"/>
                          <a:cs typeface="Times New Roman"/>
                        </a:rPr>
                        <a:t>TS-</a:t>
                      </a:r>
                      <a:r>
                        <a:rPr dirty="0" sz="750" spc="-25">
                          <a:latin typeface="Times New Roman"/>
                          <a:cs typeface="Times New Roman"/>
                        </a:rPr>
                        <a:t>RAG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TimeXer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iTransformer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RLinear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PatchTST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Crossformer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20">
                          <a:latin typeface="Times New Roman"/>
                          <a:cs typeface="Times New Roman"/>
                        </a:rPr>
                        <a:t>TiDE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TimesNet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DLinear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7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ECL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0.169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0.270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0.181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0.279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0.171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0.270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0.178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0.270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0.219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0.298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0.205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0.290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0.244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0.334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0.244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0.192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0.295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  <a:spcBef>
                          <a:spcPts val="114"/>
                        </a:spcBef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0.212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0.300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15570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ETTh1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0.437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0.439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0.438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0.442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0.437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0.437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0.454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0.447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0.446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0.434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0.469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0.454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0.529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0.522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0.541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0.507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0.458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0.450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0.456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0.452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ETTh2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0.366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0.396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0.374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0.399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0.367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0.396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0.383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0.374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0.398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0.387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0.942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0.684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0.611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0.550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0.414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0.427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0.559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0.515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ETTm1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0.379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0.395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0.383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0.399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0.382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0.397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0.407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0.410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0.414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0.387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0.512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0.496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0.419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0.419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0.400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0.403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ETTm2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0.266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0.318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0.275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0.322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0.274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0.322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0.288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0.332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0.286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0.327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0.281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0.326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0.757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0.610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0.358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0.291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0.333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0.350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10">
                          <a:latin typeface="Times New Roman"/>
                          <a:cs typeface="Times New Roman"/>
                        </a:rPr>
                        <a:t>Weather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0.241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0.272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0.276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0.241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0.271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0.278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0.272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0.291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0.281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0.315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0.271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0.320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0.259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0.287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81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0.265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0.317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049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AVG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Times New Roman"/>
                          <a:cs typeface="Times New Roman"/>
                        </a:rPr>
                        <a:t>0.310</a:t>
                      </a:r>
                      <a:r>
                        <a:rPr dirty="0" sz="75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 b="1">
                          <a:latin typeface="Times New Roman"/>
                          <a:cs typeface="Times New Roman"/>
                        </a:rPr>
                        <a:t>0.348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0.317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0.353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u="sng" sz="750" spc="-3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0.312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750" spc="-1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0.349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0.328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0.357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0.335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0.359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0.331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0.360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0.540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0.493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0.409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0.407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0.336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0.366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</a:pPr>
                      <a:r>
                        <a:rPr dirty="0" sz="750" spc="-30">
                          <a:latin typeface="Times New Roman"/>
                          <a:cs typeface="Times New Roman"/>
                        </a:rPr>
                        <a:t>0.374</a:t>
                      </a:r>
                      <a:r>
                        <a:rPr dirty="0" sz="75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75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-10">
                          <a:latin typeface="Times New Roman"/>
                          <a:cs typeface="Times New Roman"/>
                        </a:rPr>
                        <a:t>0.399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426" y="2758987"/>
            <a:ext cx="6243993" cy="25072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1566" y="5468957"/>
            <a:ext cx="43497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b="1">
                <a:latin typeface="Times New Roman"/>
                <a:cs typeface="Times New Roman"/>
              </a:rPr>
              <a:t>Figure</a:t>
            </a:r>
            <a:r>
              <a:rPr dirty="0" sz="900" spc="70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3:</a:t>
            </a:r>
            <a:r>
              <a:rPr dirty="0" sz="900" spc="7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Comparison</a:t>
            </a:r>
            <a:r>
              <a:rPr dirty="0" sz="900" spc="7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of</a:t>
            </a:r>
            <a:r>
              <a:rPr dirty="0" sz="900" spc="75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TS-</a:t>
            </a:r>
            <a:r>
              <a:rPr dirty="0" sz="900" spc="-35" b="1">
                <a:latin typeface="Times New Roman"/>
                <a:cs typeface="Times New Roman"/>
              </a:rPr>
              <a:t>RAG-</a:t>
            </a:r>
            <a:r>
              <a:rPr dirty="0" sz="900" spc="-10" b="1">
                <a:latin typeface="Times New Roman"/>
                <a:cs typeface="Times New Roman"/>
              </a:rPr>
              <a:t>CM,</a:t>
            </a:r>
            <a:r>
              <a:rPr dirty="0" sz="900" spc="70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TS-</a:t>
            </a:r>
            <a:r>
              <a:rPr dirty="0" sz="900" spc="-35" b="1">
                <a:latin typeface="Times New Roman"/>
                <a:cs typeface="Times New Roman"/>
              </a:rPr>
              <a:t>RAG</a:t>
            </a:r>
            <a:r>
              <a:rPr dirty="0" sz="900" spc="7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with</a:t>
            </a:r>
            <a:r>
              <a:rPr dirty="0" sz="900" spc="70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Direct</a:t>
            </a:r>
            <a:r>
              <a:rPr dirty="0" sz="900" spc="75" b="1">
                <a:latin typeface="Times New Roman"/>
                <a:cs typeface="Times New Roman"/>
              </a:rPr>
              <a:t> </a:t>
            </a:r>
            <a:r>
              <a:rPr dirty="0" sz="900" b="1">
                <a:latin typeface="Times New Roman"/>
                <a:cs typeface="Times New Roman"/>
              </a:rPr>
              <a:t>Sequence</a:t>
            </a:r>
            <a:r>
              <a:rPr dirty="0" sz="900" spc="70" b="1">
                <a:latin typeface="Times New Roman"/>
                <a:cs typeface="Times New Roman"/>
              </a:rPr>
              <a:t> </a:t>
            </a:r>
            <a:r>
              <a:rPr dirty="0" sz="900" spc="-10" b="1">
                <a:latin typeface="Times New Roman"/>
                <a:cs typeface="Times New Roman"/>
              </a:rPr>
              <a:t>Concatenation.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534" y="5827021"/>
            <a:ext cx="3096260" cy="11366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01499"/>
              </a:lnSpc>
              <a:spcBef>
                <a:spcPts val="80"/>
              </a:spcBef>
            </a:pP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single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reference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sequence.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contrast,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incorporating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two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or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four </a:t>
            </a:r>
            <a:r>
              <a:rPr dirty="0" sz="900">
                <a:latin typeface="Times New Roman"/>
                <a:cs typeface="Times New Roman"/>
              </a:rPr>
              <a:t>reference sequences generally leads to higher </a:t>
            </a:r>
            <a:r>
              <a:rPr dirty="0" sz="900" spc="-60">
                <a:latin typeface="Times New Roman"/>
                <a:cs typeface="Times New Roman"/>
              </a:rPr>
              <a:t>MSE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 </a:t>
            </a:r>
            <a:r>
              <a:rPr dirty="0" sz="900" spc="-35">
                <a:latin typeface="Times New Roman"/>
                <a:cs typeface="Times New Roman"/>
              </a:rPr>
              <a:t>MAE,</a:t>
            </a:r>
            <a:r>
              <a:rPr dirty="0" sz="900" spc="-20">
                <a:latin typeface="Times New Roman"/>
                <a:cs typeface="Times New Roman"/>
              </a:rPr>
              <a:t> sug-</a:t>
            </a:r>
            <a:r>
              <a:rPr dirty="0" sz="900">
                <a:latin typeface="Times New Roman"/>
                <a:cs typeface="Times New Roman"/>
              </a:rPr>
              <a:t>gesting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that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additional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retrieved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sequences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do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not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always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enhance </a:t>
            </a:r>
            <a:r>
              <a:rPr dirty="0" sz="900">
                <a:latin typeface="Times New Roman"/>
                <a:cs typeface="Times New Roman"/>
              </a:rPr>
              <a:t>forecasting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accuracy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may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introduce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noise.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possible</a:t>
            </a:r>
            <a:r>
              <a:rPr dirty="0" sz="900" spc="-10">
                <a:latin typeface="Times New Roman"/>
                <a:cs typeface="Times New Roman"/>
              </a:rPr>
              <a:t> explana-</a:t>
            </a:r>
            <a:r>
              <a:rPr dirty="0" sz="900">
                <a:latin typeface="Times New Roman"/>
                <a:cs typeface="Times New Roman"/>
              </a:rPr>
              <a:t>tion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is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that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retrieving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too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many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similar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sequences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may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introduce </a:t>
            </a:r>
            <a:r>
              <a:rPr dirty="0" sz="900">
                <a:latin typeface="Times New Roman"/>
                <a:cs typeface="Times New Roman"/>
              </a:rPr>
              <a:t>redundant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or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conflicting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patterns,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making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it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harder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model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extract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relevant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information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effectively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integrate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it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into</a:t>
            </a:r>
            <a:r>
              <a:rPr dirty="0" sz="900" spc="35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the</a:t>
            </a:r>
            <a:r>
              <a:rPr dirty="0" sz="900">
                <a:latin typeface="Times New Roman"/>
                <a:cs typeface="Times New Roman"/>
              </a:rPr>
              <a:t> forecasting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process.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118" y="7325786"/>
            <a:ext cx="3099435" cy="16935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 indent="3175">
              <a:lnSpc>
                <a:spcPct val="101499"/>
              </a:lnSpc>
              <a:spcBef>
                <a:spcPts val="80"/>
              </a:spcBef>
            </a:pPr>
            <a:r>
              <a:rPr dirty="0" sz="900" i="1">
                <a:latin typeface="Times New Roman"/>
                <a:cs typeface="Times New Roman"/>
              </a:rPr>
              <a:t>4.2.3</a:t>
            </a:r>
            <a:r>
              <a:rPr dirty="0" sz="900" spc="160" i="1">
                <a:latin typeface="Times New Roman"/>
                <a:cs typeface="Times New Roman"/>
              </a:rPr>
              <a:t>  </a:t>
            </a:r>
            <a:r>
              <a:rPr dirty="0" sz="900" i="1">
                <a:latin typeface="Times New Roman"/>
                <a:cs typeface="Times New Roman"/>
              </a:rPr>
              <a:t>Comparison</a:t>
            </a:r>
            <a:r>
              <a:rPr dirty="0" sz="900" spc="4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of</a:t>
            </a:r>
            <a:r>
              <a:rPr dirty="0" sz="900" spc="3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different</a:t>
            </a:r>
            <a:r>
              <a:rPr dirty="0" sz="900" spc="35" i="1">
                <a:latin typeface="Times New Roman"/>
                <a:cs typeface="Times New Roman"/>
              </a:rPr>
              <a:t> </a:t>
            </a:r>
            <a:r>
              <a:rPr dirty="0" sz="900" spc="-10" i="1">
                <a:latin typeface="Times New Roman"/>
                <a:cs typeface="Times New Roman"/>
              </a:rPr>
              <a:t>retrieval</a:t>
            </a:r>
            <a:r>
              <a:rPr dirty="0" sz="900" spc="30" i="1">
                <a:latin typeface="Times New Roman"/>
                <a:cs typeface="Times New Roman"/>
              </a:rPr>
              <a:t> </a:t>
            </a:r>
            <a:r>
              <a:rPr dirty="0" sz="900" i="1">
                <a:latin typeface="Times New Roman"/>
                <a:cs typeface="Times New Roman"/>
              </a:rPr>
              <a:t>approaches.</a:t>
            </a:r>
            <a:r>
              <a:rPr dirty="0" sz="900" spc="340" i="1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addition </a:t>
            </a:r>
            <a:r>
              <a:rPr dirty="0" sz="900">
                <a:latin typeface="Times New Roman"/>
                <a:cs typeface="Times New Roman"/>
              </a:rPr>
              <a:t>to information fusion strategies and the number of retrieved </a:t>
            </a:r>
            <a:r>
              <a:rPr dirty="0" sz="900" spc="-25">
                <a:latin typeface="Times New Roman"/>
                <a:cs typeface="Times New Roman"/>
              </a:rPr>
              <a:t>se-</a:t>
            </a:r>
            <a:r>
              <a:rPr dirty="0" sz="900">
                <a:latin typeface="Times New Roman"/>
                <a:cs typeface="Times New Roman"/>
              </a:rPr>
              <a:t>quences,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another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crucial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factor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affecting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model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performance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is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the</a:t>
            </a:r>
            <a:r>
              <a:rPr dirty="0" sz="900">
                <a:latin typeface="Times New Roman"/>
                <a:cs typeface="Times New Roman"/>
              </a:rPr>
              <a:t> retrieval</a:t>
            </a:r>
            <a:r>
              <a:rPr dirty="0" sz="900" spc="9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approach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used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9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find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similar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sequences.</a:t>
            </a:r>
            <a:r>
              <a:rPr dirty="0" sz="900" spc="9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choice</a:t>
            </a:r>
            <a:r>
              <a:rPr dirty="0" sz="900" spc="100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of</a:t>
            </a:r>
            <a:r>
              <a:rPr dirty="0" sz="900">
                <a:latin typeface="Times New Roman"/>
                <a:cs typeface="Times New Roman"/>
              </a:rPr>
              <a:t> retrieval</a:t>
            </a:r>
            <a:r>
              <a:rPr dirty="0" sz="900" spc="1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method</a:t>
            </a:r>
            <a:r>
              <a:rPr dirty="0" sz="900" spc="1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not</a:t>
            </a:r>
            <a:r>
              <a:rPr dirty="0" sz="900" spc="1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only</a:t>
            </a:r>
            <a:r>
              <a:rPr dirty="0" sz="900" spc="1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impacts</a:t>
            </a:r>
            <a:r>
              <a:rPr dirty="0" sz="900" spc="1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forecasting</a:t>
            </a:r>
            <a:r>
              <a:rPr dirty="0" sz="900" spc="1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accuracy</a:t>
            </a:r>
            <a:r>
              <a:rPr dirty="0" sz="900" spc="1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but</a:t>
            </a:r>
            <a:r>
              <a:rPr dirty="0" sz="900" spc="12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also </a:t>
            </a:r>
            <a:r>
              <a:rPr dirty="0" sz="900">
                <a:latin typeface="Times New Roman"/>
                <a:cs typeface="Times New Roman"/>
              </a:rPr>
              <a:t>plays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significant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role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model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inference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efficiency.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As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shown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in</a:t>
            </a:r>
            <a:r>
              <a:rPr dirty="0" sz="900" spc="-10">
                <a:latin typeface="Times New Roman"/>
                <a:cs typeface="Times New Roman"/>
              </a:rPr>
              <a:t> Table 2, TCN-</a:t>
            </a:r>
            <a:r>
              <a:rPr dirty="0" sz="900">
                <a:latin typeface="Times New Roman"/>
                <a:cs typeface="Times New Roman"/>
              </a:rPr>
              <a:t>based retrieval achieves the best forecasting </a:t>
            </a:r>
            <a:r>
              <a:rPr dirty="0" sz="900" spc="-10">
                <a:latin typeface="Times New Roman"/>
                <a:cs typeface="Times New Roman"/>
              </a:rPr>
              <a:t>perfor-</a:t>
            </a:r>
            <a:r>
              <a:rPr dirty="0" sz="900">
                <a:latin typeface="Times New Roman"/>
                <a:cs typeface="Times New Roman"/>
              </a:rPr>
              <a:t>mance,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with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lower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 spc="-40">
                <a:latin typeface="Times New Roman"/>
                <a:cs typeface="Times New Roman"/>
              </a:rPr>
              <a:t>MSE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MAE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compared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DTW-</a:t>
            </a:r>
            <a:r>
              <a:rPr dirty="0" sz="900">
                <a:latin typeface="Times New Roman"/>
                <a:cs typeface="Times New Roman"/>
              </a:rPr>
              <a:t>based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and</a:t>
            </a:r>
            <a:r>
              <a:rPr dirty="0" sz="900">
                <a:latin typeface="Times New Roman"/>
                <a:cs typeface="Times New Roman"/>
              </a:rPr>
              <a:t> Euclidean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Distance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 spc="-35">
                <a:latin typeface="Times New Roman"/>
                <a:cs typeface="Times New Roman"/>
              </a:rPr>
              <a:t>(ED)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retrieval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methods.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Although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TCN-based </a:t>
            </a:r>
            <a:r>
              <a:rPr dirty="0" sz="900">
                <a:latin typeface="Times New Roman"/>
                <a:cs typeface="Times New Roman"/>
              </a:rPr>
              <a:t>retrieval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is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slightly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slower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than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 spc="-50">
                <a:latin typeface="Times New Roman"/>
                <a:cs typeface="Times New Roman"/>
              </a:rPr>
              <a:t>ED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retrieval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 spc="-35">
                <a:latin typeface="Times New Roman"/>
                <a:cs typeface="Times New Roman"/>
              </a:rPr>
              <a:t>(0.004s</a:t>
            </a:r>
            <a:r>
              <a:rPr dirty="0" sz="900" spc="-10">
                <a:latin typeface="Times New Roman"/>
                <a:cs typeface="Times New Roman"/>
              </a:rPr>
              <a:t> vs.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35">
                <a:latin typeface="Times New Roman"/>
                <a:cs typeface="Times New Roman"/>
              </a:rPr>
              <a:t>0.002s),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it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is</a:t>
            </a:r>
            <a:r>
              <a:rPr dirty="0" sz="900">
                <a:latin typeface="Times New Roman"/>
                <a:cs typeface="Times New Roman"/>
              </a:rPr>
              <a:t> still significantly faster than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30">
                <a:latin typeface="Times New Roman"/>
                <a:cs typeface="Times New Roman"/>
              </a:rPr>
              <a:t>DTW-</a:t>
            </a:r>
            <a:r>
              <a:rPr dirty="0" sz="900">
                <a:latin typeface="Times New Roman"/>
                <a:cs typeface="Times New Roman"/>
              </a:rPr>
              <a:t>based retrieval </a:t>
            </a:r>
            <a:r>
              <a:rPr dirty="0" sz="900" spc="-35">
                <a:latin typeface="Times New Roman"/>
                <a:cs typeface="Times New Roman"/>
              </a:rPr>
              <a:t>(14.27s),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making </a:t>
            </a:r>
            <a:r>
              <a:rPr dirty="0" sz="900">
                <a:latin typeface="Times New Roman"/>
                <a:cs typeface="Times New Roman"/>
              </a:rPr>
              <a:t>it</a:t>
            </a:r>
            <a:r>
              <a:rPr dirty="0" sz="900" spc="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more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practical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choice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real-time</a:t>
            </a:r>
            <a:r>
              <a:rPr dirty="0" sz="900" spc="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applications.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2483" y="5762935"/>
            <a:ext cx="3098800" cy="304482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5240">
              <a:lnSpc>
                <a:spcPct val="100000"/>
              </a:lnSpc>
              <a:spcBef>
                <a:spcPts val="400"/>
              </a:spcBef>
            </a:pPr>
            <a:r>
              <a:rPr dirty="0" sz="1100" b="1">
                <a:latin typeface="Times New Roman"/>
                <a:cs typeface="Times New Roman"/>
              </a:rPr>
              <a:t>5</a:t>
            </a:r>
            <a:r>
              <a:rPr dirty="0" sz="1100" spc="270" b="1">
                <a:latin typeface="Times New Roman"/>
                <a:cs typeface="Times New Roman"/>
              </a:rPr>
              <a:t>  </a:t>
            </a:r>
            <a:r>
              <a:rPr dirty="0" sz="1100" spc="-10" b="1">
                <a:latin typeface="Times New Roman"/>
                <a:cs typeface="Times New Roman"/>
              </a:rPr>
              <a:t>Conclusion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 indent="2540">
              <a:lnSpc>
                <a:spcPct val="101499"/>
              </a:lnSpc>
              <a:spcBef>
                <a:spcPts val="234"/>
              </a:spcBef>
            </a:pP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this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work,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we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introduced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 spc="-45">
                <a:latin typeface="Times New Roman"/>
                <a:cs typeface="Times New Roman"/>
              </a:rPr>
              <a:t>TS-</a:t>
            </a:r>
            <a:r>
              <a:rPr dirty="0" sz="900" spc="-55">
                <a:latin typeface="Times New Roman"/>
                <a:cs typeface="Times New Roman"/>
              </a:rPr>
              <a:t>RAG,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novel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retrieval-</a:t>
            </a:r>
            <a:r>
              <a:rPr dirty="0" sz="900" spc="-10">
                <a:latin typeface="Times New Roman"/>
                <a:cs typeface="Times New Roman"/>
              </a:rPr>
              <a:t>augmented </a:t>
            </a:r>
            <a:r>
              <a:rPr dirty="0" sz="900">
                <a:latin typeface="Times New Roman"/>
                <a:cs typeface="Times New Roman"/>
              </a:rPr>
              <a:t>generation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(RAG)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framework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time</a:t>
            </a:r>
            <a:r>
              <a:rPr dirty="0" sz="900" spc="14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series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forecasting,</a:t>
            </a:r>
            <a:r>
              <a:rPr dirty="0" sz="900" spc="13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which </a:t>
            </a:r>
            <a:r>
              <a:rPr dirty="0" sz="900">
                <a:latin typeface="Times New Roman"/>
                <a:cs typeface="Times New Roman"/>
              </a:rPr>
              <a:t>effectively integrates retrieved historical sequences into the </a:t>
            </a:r>
            <a:r>
              <a:rPr dirty="0" sz="900" spc="-20">
                <a:latin typeface="Times New Roman"/>
                <a:cs typeface="Times New Roman"/>
              </a:rPr>
              <a:t>fore-</a:t>
            </a:r>
            <a:r>
              <a:rPr dirty="0" sz="900">
                <a:latin typeface="Times New Roman"/>
                <a:cs typeface="Times New Roman"/>
              </a:rPr>
              <a:t>casting process. Our approach addresses key limitations of </a:t>
            </a:r>
            <a:r>
              <a:rPr dirty="0" sz="900" spc="-10">
                <a:latin typeface="Times New Roman"/>
                <a:cs typeface="Times New Roman"/>
              </a:rPr>
              <a:t>exist-</a:t>
            </a:r>
            <a:r>
              <a:rPr dirty="0" sz="900" spc="10">
                <a:latin typeface="Times New Roman"/>
                <a:cs typeface="Times New Roman"/>
              </a:rPr>
              <a:t>ing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deep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learning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models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by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incorporating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external</a:t>
            </a:r>
            <a:r>
              <a:rPr dirty="0" sz="900" spc="5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information </a:t>
            </a:r>
            <a:r>
              <a:rPr dirty="0" sz="900">
                <a:latin typeface="Times New Roman"/>
                <a:cs typeface="Times New Roman"/>
              </a:rPr>
              <a:t>through</a:t>
            </a:r>
            <a:r>
              <a:rPr dirty="0" sz="900" spc="2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reference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tokens,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facilitating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more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structured</a:t>
            </a:r>
            <a:r>
              <a:rPr dirty="0" sz="900" spc="2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fusion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complex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temporal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dependencies.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By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leveraging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efficient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vector </a:t>
            </a:r>
            <a:r>
              <a:rPr dirty="0" sz="900">
                <a:latin typeface="Times New Roman"/>
                <a:cs typeface="Times New Roman"/>
              </a:rPr>
              <a:t>search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techniques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instead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computationally</a:t>
            </a:r>
            <a:r>
              <a:rPr dirty="0" sz="900" spc="8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expensive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methods </a:t>
            </a:r>
            <a:r>
              <a:rPr dirty="0" sz="900">
                <a:latin typeface="Times New Roman"/>
                <a:cs typeface="Times New Roman"/>
              </a:rPr>
              <a:t>like Dynamic Time Warping (DTW), </a:t>
            </a:r>
            <a:r>
              <a:rPr dirty="0" sz="900" spc="-30">
                <a:latin typeface="Times New Roman"/>
                <a:cs typeface="Times New Roman"/>
              </a:rPr>
              <a:t>TS-RAG</a:t>
            </a:r>
            <a:r>
              <a:rPr dirty="0" sz="900">
                <a:latin typeface="Times New Roman"/>
                <a:cs typeface="Times New Roman"/>
              </a:rPr>
              <a:t> achieves faster </a:t>
            </a:r>
            <a:r>
              <a:rPr dirty="0" sz="900" spc="-25">
                <a:latin typeface="Times New Roman"/>
                <a:cs typeface="Times New Roman"/>
              </a:rPr>
              <a:t>in-</a:t>
            </a:r>
            <a:r>
              <a:rPr dirty="0" sz="900">
                <a:latin typeface="Times New Roman"/>
                <a:cs typeface="Times New Roman"/>
              </a:rPr>
              <a:t>ference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while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maintaining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high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predictive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accuracy.Our</a:t>
            </a:r>
            <a:r>
              <a:rPr dirty="0" sz="900" spc="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extensive </a:t>
            </a:r>
            <a:r>
              <a:rPr dirty="0" sz="900">
                <a:latin typeface="Times New Roman"/>
                <a:cs typeface="Times New Roman"/>
              </a:rPr>
              <a:t>evaluation on multiple real-world time series forecasting </a:t>
            </a:r>
            <a:r>
              <a:rPr dirty="0" sz="900" spc="-10">
                <a:latin typeface="Times New Roman"/>
                <a:cs typeface="Times New Roman"/>
              </a:rPr>
              <a:t>bench-</a:t>
            </a:r>
            <a:r>
              <a:rPr dirty="0" sz="900">
                <a:latin typeface="Times New Roman"/>
                <a:cs typeface="Times New Roman"/>
              </a:rPr>
              <a:t>marks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demonstrates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that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 spc="-35">
                <a:latin typeface="Times New Roman"/>
                <a:cs typeface="Times New Roman"/>
              </a:rPr>
              <a:t>TS-</a:t>
            </a:r>
            <a:r>
              <a:rPr dirty="0" sz="900" spc="-45">
                <a:latin typeface="Times New Roman"/>
                <a:cs typeface="Times New Roman"/>
              </a:rPr>
              <a:t>RAG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consistently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outperforms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state-</a:t>
            </a:r>
            <a:r>
              <a:rPr dirty="0" sz="900">
                <a:latin typeface="Times New Roman"/>
                <a:cs typeface="Times New Roman"/>
              </a:rPr>
              <a:t>of-the-art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models,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highlighting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its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potential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enhance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forecasting </a:t>
            </a:r>
            <a:r>
              <a:rPr dirty="0" sz="900">
                <a:latin typeface="Times New Roman"/>
                <a:cs typeface="Times New Roman"/>
              </a:rPr>
              <a:t>performance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both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common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rare-event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scenarios.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25">
                <a:latin typeface="Times New Roman"/>
                <a:cs typeface="Times New Roman"/>
              </a:rPr>
              <a:t>Unlike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stan-</a:t>
            </a:r>
            <a:r>
              <a:rPr dirty="0" sz="900">
                <a:latin typeface="Times New Roman"/>
                <a:cs typeface="Times New Roman"/>
              </a:rPr>
              <a:t>dard</a:t>
            </a:r>
            <a:r>
              <a:rPr dirty="0" sz="900" spc="114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transformer-based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architectures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that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rely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solely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on</a:t>
            </a:r>
            <a:r>
              <a:rPr dirty="0" sz="900" spc="1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internal </a:t>
            </a:r>
            <a:r>
              <a:rPr dirty="0" sz="900">
                <a:latin typeface="Times New Roman"/>
                <a:cs typeface="Times New Roman"/>
              </a:rPr>
              <a:t>feature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extraction,</a:t>
            </a:r>
            <a:r>
              <a:rPr dirty="0" sz="900" spc="114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our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framework</a:t>
            </a:r>
            <a:r>
              <a:rPr dirty="0" sz="900" spc="114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retrieves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114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utilizes</a:t>
            </a:r>
            <a:r>
              <a:rPr dirty="0" sz="900" spc="11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relevant </a:t>
            </a:r>
            <a:r>
              <a:rPr dirty="0" sz="900">
                <a:latin typeface="Times New Roman"/>
                <a:cs typeface="Times New Roman"/>
              </a:rPr>
              <a:t>external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sequences,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allowing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model</a:t>
            </a:r>
            <a:r>
              <a:rPr dirty="0" sz="900" spc="8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to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make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better-</a:t>
            </a:r>
            <a:r>
              <a:rPr dirty="0" sz="900" spc="-10">
                <a:latin typeface="Times New Roman"/>
                <a:cs typeface="Times New Roman"/>
              </a:rPr>
              <a:t>informed </a:t>
            </a:r>
            <a:r>
              <a:rPr dirty="0" sz="900">
                <a:latin typeface="Times New Roman"/>
                <a:cs typeface="Times New Roman"/>
              </a:rPr>
              <a:t>predictions, particularly when training data is scarce or lacks </a:t>
            </a:r>
            <a:r>
              <a:rPr dirty="0" sz="900" spc="-25">
                <a:latin typeface="Times New Roman"/>
                <a:cs typeface="Times New Roman"/>
              </a:rPr>
              <a:t>di-</a:t>
            </a:r>
            <a:r>
              <a:rPr dirty="0" sz="900">
                <a:latin typeface="Times New Roman"/>
                <a:cs typeface="Times New Roman"/>
              </a:rPr>
              <a:t>versity.This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work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bridges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gap</a:t>
            </a:r>
            <a:r>
              <a:rPr dirty="0" sz="900" spc="1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between</a:t>
            </a:r>
            <a:r>
              <a:rPr dirty="0" sz="900" spc="1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retrieval-</a:t>
            </a:r>
            <a:r>
              <a:rPr dirty="0" sz="900" spc="-10">
                <a:latin typeface="Times New Roman"/>
                <a:cs typeface="Times New Roman"/>
              </a:rPr>
              <a:t>augmented </a:t>
            </a:r>
            <a:r>
              <a:rPr dirty="0" sz="900">
                <a:latin typeface="Times New Roman"/>
                <a:cs typeface="Times New Roman"/>
              </a:rPr>
              <a:t>methods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and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time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series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forecasting,</a:t>
            </a:r>
            <a:r>
              <a:rPr dirty="0" sz="900" spc="6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showcasing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how</a:t>
            </a:r>
            <a:r>
              <a:rPr dirty="0" sz="900" spc="5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ideas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from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2026-08-17T20:10:33Z</dcterms:created>
  <dcterms:modified xsi:type="dcterms:W3CDTF">2026-08-17T20:10:33Z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2026-08-17T00:00:00Z</vt:filetime>
  </property>
  <property fmtid="{D5CDD505-2E9C-101B-9397-08002B2CF9AE}" pid="4" name="LastSaved">
    <vt:filetime>2026-08-17T00:00:00Z</vt:filetime>
  </property>
  <property fmtid="{D5CDD505-2E9C-101B-9397-08002B2CF9AE}" pid="5" name="Producer">
    <vt:lpwstr>Pdftools SDK</vt:lpwstr>
  </property>
</Properties>
</file>